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23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Effectifs</c:v>
                </c:pt>
              </c:strCache>
            </c:strRef>
          </c:tx>
          <c:spPr>
            <a:solidFill>
              <a:srgbClr val="1B433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D63-4ECA-8A18-1EB0FD8C0D7E}"/>
              </c:ext>
            </c:extLst>
          </c:dPt>
          <c:dPt>
            <c:idx val="1"/>
            <c:invertIfNegative val="0"/>
            <c:bubble3D val="0"/>
            <c:spPr>
              <a:solidFill>
                <a:srgbClr val="52796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D63-4ECA-8A18-1EB0FD8C0D7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Kirmizi
Pistachio</c:v>
                </c:pt>
                <c:pt idx="1">
                  <c:v>Siirt
Pistachio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1232</c:v>
                </c:pt>
                <c:pt idx="1">
                  <c:v>916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D63-4ECA-8A18-1EB0FD8C0D7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C1C1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Modèle (AUC ≈ 0.98)</c:v>
                </c:pt>
              </c:strCache>
            </c:strRef>
          </c:tx>
          <c:spPr>
            <a:ln w="31750" cap="flat">
              <a:solidFill>
                <a:srgbClr val="1B433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B4332"/>
              </a:solidFill>
              <a:ln w="9525" cap="flat">
                <a:solidFill>
                  <a:srgbClr val="1B4332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0.0</c:v>
                </c:pt>
                <c:pt idx="1">
                  <c:v>0.02</c:v>
                </c:pt>
                <c:pt idx="2">
                  <c:v>0.05</c:v>
                </c:pt>
                <c:pt idx="3">
                  <c:v>0.10</c:v>
                </c:pt>
                <c:pt idx="4">
                  <c:v>0.20</c:v>
                </c:pt>
                <c:pt idx="5">
                  <c:v>0.40</c:v>
                </c:pt>
                <c:pt idx="6">
                  <c:v>0.60</c:v>
                </c:pt>
                <c:pt idx="7">
                  <c:v>1.0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</c:v>
                </c:pt>
                <c:pt idx="1">
                  <c:v>0.55000000000000004</c:v>
                </c:pt>
                <c:pt idx="2">
                  <c:v>0.75</c:v>
                </c:pt>
                <c:pt idx="3">
                  <c:v>0.87</c:v>
                </c:pt>
                <c:pt idx="4">
                  <c:v>0.94</c:v>
                </c:pt>
                <c:pt idx="5">
                  <c:v>0.98</c:v>
                </c:pt>
                <c:pt idx="6">
                  <c:v>0.99</c:v>
                </c:pt>
                <c:pt idx="7">
                  <c:v>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81D5-4DF9-B7E9-E87F75684A9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Aléatoire</c:v>
                </c:pt>
              </c:strCache>
            </c:strRef>
          </c:tx>
          <c:spPr>
            <a:ln w="31750" cap="flat">
              <a:solidFill>
                <a:srgbClr val="AAAAA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AAAAAA"/>
              </a:solidFill>
              <a:ln w="9525" cap="flat">
                <a:solidFill>
                  <a:srgbClr val="AAAAAA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0.0</c:v>
                </c:pt>
                <c:pt idx="1">
                  <c:v>0.02</c:v>
                </c:pt>
                <c:pt idx="2">
                  <c:v>0.05</c:v>
                </c:pt>
                <c:pt idx="3">
                  <c:v>0.10</c:v>
                </c:pt>
                <c:pt idx="4">
                  <c:v>0.20</c:v>
                </c:pt>
                <c:pt idx="5">
                  <c:v>0.40</c:v>
                </c:pt>
                <c:pt idx="6">
                  <c:v>0.60</c:v>
                </c:pt>
                <c:pt idx="7">
                  <c:v>1.0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</c:v>
                </c:pt>
                <c:pt idx="1">
                  <c:v>0.02</c:v>
                </c:pt>
                <c:pt idx="2">
                  <c:v>0.05</c:v>
                </c:pt>
                <c:pt idx="3">
                  <c:v>0.1</c:v>
                </c:pt>
                <c:pt idx="4">
                  <c:v>0.2</c:v>
                </c:pt>
                <c:pt idx="5">
                  <c:v>0.4</c:v>
                </c:pt>
                <c:pt idx="6">
                  <c:v>0.6</c:v>
                </c:pt>
                <c:pt idx="7">
                  <c:v>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81D5-4DF9-B7E9-E87F75684A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Val. Accuracy</c:v>
                </c:pt>
              </c:strCache>
            </c:strRef>
          </c:tx>
          <c:spPr>
            <a:solidFill>
              <a:srgbClr val="52796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5BA-4597-B067-B58368E06385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35BA-4597-B067-B58368E06385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35BA-4597-B067-B58368E06385}"/>
              </c:ext>
            </c:extLst>
          </c:dPt>
          <c:dPt>
            <c:idx val="3"/>
            <c:invertIfNegative val="0"/>
            <c:bubble3D val="0"/>
            <c:spPr>
              <a:solidFill>
                <a:srgbClr val="1B433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5BA-4597-B067-B58368E06385}"/>
              </c:ext>
            </c:extLst>
          </c:dPt>
          <c:dPt>
            <c:idx val="4"/>
            <c:invertIfNegative val="0"/>
            <c:bubble3D val="0"/>
            <c:spPr>
              <a:solidFill>
                <a:srgbClr val="E67E2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35BA-4597-B067-B58368E06385}"/>
              </c:ext>
            </c:extLst>
          </c:dPt>
          <c:dPt>
            <c:idx val="5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35BA-4597-B067-B58368E0638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L2=0</c:v>
                </c:pt>
                <c:pt idx="1">
                  <c:v>L2=1e-5</c:v>
                </c:pt>
                <c:pt idx="2">
                  <c:v>L2=1e-4</c:v>
                </c:pt>
                <c:pt idx="3">
                  <c:v>L2=1e-3 ★</c:v>
                </c:pt>
                <c:pt idx="4">
                  <c:v>L2=1e-2</c:v>
                </c:pt>
                <c:pt idx="5">
                  <c:v>L2=5e-2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95.64</c:v>
                </c:pt>
                <c:pt idx="1">
                  <c:v>95.93</c:v>
                </c:pt>
                <c:pt idx="2">
                  <c:v>95.35</c:v>
                </c:pt>
                <c:pt idx="3">
                  <c:v>96.22</c:v>
                </c:pt>
                <c:pt idx="4">
                  <c:v>94.77</c:v>
                </c:pt>
                <c:pt idx="5">
                  <c:v>94.48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35BA-4597-B067-B58368E0638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C1C1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7"/>
          <c:min val="93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Meilleure Acc.</c:v>
                </c:pt>
              </c:strCache>
            </c:strRef>
          </c:tx>
          <c:spPr>
            <a:solidFill>
              <a:srgbClr val="1B433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C1C1C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Optuna
(Bayésien)</c:v>
                </c:pt>
                <c:pt idx="1">
                  <c:v>Random
Search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96.22</c:v>
                </c:pt>
                <c:pt idx="1">
                  <c:v>96.51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A03-466B-BE1D-70E5ADD23FE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Médiane Acc.</c:v>
                </c:pt>
              </c:strCache>
            </c:strRef>
          </c:tx>
          <c:spPr>
            <a:solidFill>
              <a:srgbClr val="95D5B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C1C1C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Optuna
(Bayésien)</c:v>
                </c:pt>
                <c:pt idx="1">
                  <c:v>Random
Search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95.35</c:v>
                </c:pt>
                <c:pt idx="1">
                  <c:v>94.77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A03-466B-BE1D-70E5ADD23FE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C1C1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7"/>
          <c:min val="93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841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rchhjc/Projet-Deep-Learning-ISSEA-DS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kaggle.com/code/irchnk/projet-deep-learning-dsm-issea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731520"/>
            <a:ext cx="2926080" cy="2926080"/>
          </a:xfrm>
          <a:prstGeom prst="ellipse">
            <a:avLst/>
          </a:prstGeom>
          <a:solidFill>
            <a:srgbClr val="2D6A4F">
              <a:alpha val="40000"/>
            </a:srgbClr>
          </a:solidFill>
          <a:ln w="12700">
            <a:solidFill>
              <a:srgbClr val="2D6A4F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-274320"/>
            <a:ext cx="2011680" cy="2011680"/>
          </a:xfrm>
          <a:prstGeom prst="ellipse">
            <a:avLst/>
          </a:prstGeom>
          <a:solidFill>
            <a:srgbClr val="95D5B2">
              <a:alpha val="30000"/>
            </a:srgbClr>
          </a:solidFill>
          <a:ln w="12700">
            <a:solidFill>
              <a:srgbClr val="95D5B2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274320"/>
            <a:ext cx="2377440" cy="34747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2743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4332"/>
                </a:solidFill>
              </a:rPr>
              <a:t>DSM-ISSEA · Février 2026 GROUPE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100584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 Automatique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Pistaches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320040" y="246888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i="1" dirty="0">
                <a:solidFill>
                  <a:srgbClr val="95D5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 Deep Learning (MLP)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20040" y="3063240"/>
            <a:ext cx="4572000" cy="36576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3291840"/>
            <a:ext cx="1965960" cy="822960"/>
          </a:xfrm>
          <a:prstGeom prst="rect">
            <a:avLst/>
          </a:prstGeom>
          <a:solidFill>
            <a:srgbClr val="2D6A4F"/>
          </a:solidFill>
          <a:ln w="12700">
            <a:solidFill>
              <a:srgbClr val="52796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331927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5D5B2"/>
                </a:solidFill>
              </a:rPr>
              <a:t>Dataset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0040" y="359359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2 148 échantillons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487168" y="3291840"/>
            <a:ext cx="1965960" cy="822960"/>
          </a:xfrm>
          <a:prstGeom prst="rect">
            <a:avLst/>
          </a:prstGeom>
          <a:solidFill>
            <a:srgbClr val="2D6A4F"/>
          </a:solidFill>
          <a:ln w="12700">
            <a:solidFill>
              <a:srgbClr val="52796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87168" y="331927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5D5B2"/>
                </a:solidFill>
              </a:rPr>
              <a:t>Features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487168" y="359359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28 caractéristiques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54296" y="3291840"/>
            <a:ext cx="1965960" cy="822960"/>
          </a:xfrm>
          <a:prstGeom prst="rect">
            <a:avLst/>
          </a:prstGeom>
          <a:solidFill>
            <a:srgbClr val="2D6A4F"/>
          </a:solidFill>
          <a:ln w="12700">
            <a:solidFill>
              <a:srgbClr val="52796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54296" y="331927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5D5B2"/>
                </a:solidFill>
              </a:rPr>
              <a:t>Classes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54296" y="359359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2 variétés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21424" y="3291840"/>
            <a:ext cx="1965960" cy="822960"/>
          </a:xfrm>
          <a:prstGeom prst="rect">
            <a:avLst/>
          </a:prstGeom>
          <a:solidFill>
            <a:srgbClr val="2D6A4F"/>
          </a:solidFill>
          <a:ln w="12700">
            <a:solidFill>
              <a:srgbClr val="52796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21424" y="331927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5D5B2"/>
                </a:solidFill>
              </a:rPr>
              <a:t>Modèle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821424" y="359359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MLP + Optuna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796F"/>
                </a:solidFill>
              </a:rPr>
              <a:t>01 / 10</a:t>
            </a:r>
            <a:endParaRPr lang="en-US" sz="900" dirty="0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FDDE64D1-88D6-8EC0-9D2E-5FA20BA3D088}"/>
              </a:ext>
            </a:extLst>
          </p:cNvPr>
          <p:cNvSpPr txBox="1"/>
          <p:nvPr/>
        </p:nvSpPr>
        <p:spPr>
          <a:xfrm>
            <a:off x="320040" y="4164761"/>
            <a:ext cx="51531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bg1"/>
                </a:solidFill>
              </a:rPr>
              <a:t>AYONTA NDJOUTSE </a:t>
            </a:r>
            <a:r>
              <a:rPr lang="fr-FR" b="1" dirty="0" err="1">
                <a:solidFill>
                  <a:schemeClr val="bg1"/>
                </a:solidFill>
              </a:rPr>
              <a:t>Vanelle</a:t>
            </a:r>
            <a:r>
              <a:rPr lang="fr-FR" b="1" dirty="0">
                <a:solidFill>
                  <a:schemeClr val="bg1"/>
                </a:solidFill>
              </a:rPr>
              <a:t> </a:t>
            </a:r>
          </a:p>
          <a:p>
            <a:r>
              <a:rPr lang="fr-FR" b="1" dirty="0">
                <a:solidFill>
                  <a:schemeClr val="bg1"/>
                </a:solidFill>
              </a:rPr>
              <a:t>NGOULOU NGOUBILI Irch Defluviaire</a:t>
            </a:r>
          </a:p>
          <a:p>
            <a:r>
              <a:rPr lang="fr-FR" b="1" dirty="0">
                <a:solidFill>
                  <a:schemeClr val="bg1"/>
                </a:solidFill>
              </a:rPr>
              <a:t>SOME </a:t>
            </a:r>
            <a:r>
              <a:rPr lang="fr-FR" b="1" dirty="0" err="1">
                <a:solidFill>
                  <a:schemeClr val="bg1"/>
                </a:solidFill>
              </a:rPr>
              <a:t>Kpibargnin</a:t>
            </a:r>
            <a:r>
              <a:rPr lang="fr-FR" b="1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DCCE7354-0FBD-FB2D-908D-77900868DF31}"/>
              </a:ext>
            </a:extLst>
          </p:cNvPr>
          <p:cNvSpPr txBox="1"/>
          <p:nvPr/>
        </p:nvSpPr>
        <p:spPr>
          <a:xfrm>
            <a:off x="2697481" y="223356"/>
            <a:ext cx="64465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</a:rPr>
              <a:t>Lien GitHub: </a:t>
            </a:r>
            <a:r>
              <a:rPr lang="fr-FR" sz="1100" dirty="0">
                <a:solidFill>
                  <a:srgbClr val="0563C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https://github.com/irchhjc/</a:t>
            </a:r>
            <a:r>
              <a:rPr lang="fr-FR" sz="1100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Projet-Deep-Learning-ISSEA-DSM</a:t>
            </a:r>
            <a:endParaRPr lang="fr-FR" sz="1100" dirty="0">
              <a:solidFill>
                <a:schemeClr val="bg1"/>
              </a:solidFill>
            </a:endParaRPr>
          </a:p>
          <a:p>
            <a:endParaRPr lang="fr-FR" sz="1100" dirty="0">
              <a:solidFill>
                <a:schemeClr val="bg1"/>
              </a:solidFill>
            </a:endParaRPr>
          </a:p>
          <a:p>
            <a:r>
              <a:rPr lang="fr-FR" sz="1100" dirty="0">
                <a:solidFill>
                  <a:schemeClr val="bg1"/>
                </a:solidFill>
              </a:rPr>
              <a:t>Lien </a:t>
            </a:r>
            <a:r>
              <a:rPr lang="fr-FR" sz="1100" dirty="0" err="1">
                <a:solidFill>
                  <a:schemeClr val="bg1"/>
                </a:solidFill>
              </a:rPr>
              <a:t>Kaggle</a:t>
            </a:r>
            <a:r>
              <a:rPr lang="fr-FR" sz="1100" dirty="0">
                <a:solidFill>
                  <a:schemeClr val="bg1"/>
                </a:solidFill>
              </a:rPr>
              <a:t> pour l’</a:t>
            </a:r>
            <a:r>
              <a:rPr lang="fr-FR" sz="1100" dirty="0" err="1">
                <a:solidFill>
                  <a:schemeClr val="bg1"/>
                </a:solidFill>
              </a:rPr>
              <a:t>execution</a:t>
            </a:r>
            <a:r>
              <a:rPr lang="fr-FR" sz="1100" dirty="0">
                <a:solidFill>
                  <a:schemeClr val="bg1"/>
                </a:solidFill>
              </a:rPr>
              <a:t> avec GPU: </a:t>
            </a:r>
            <a:r>
              <a:rPr lang="fr-FR" sz="1100" dirty="0">
                <a:solidFill>
                  <a:srgbClr val="0563C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https://www.kaggle.com/code/irchnk/</a:t>
            </a:r>
            <a:r>
              <a:rPr lang="fr-FR" sz="1100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projet-deep-learning-dsm-issea</a:t>
            </a:r>
            <a:endParaRPr lang="fr-FR" sz="1100" dirty="0">
              <a:solidFill>
                <a:schemeClr val="bg1"/>
              </a:solidFill>
            </a:endParaRPr>
          </a:p>
          <a:p>
            <a:endParaRPr lang="fr-FR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Description du Dataset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5D5B2"/>
                </a:solidFill>
              </a:rPr>
              <a:t>02 /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1031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73152" cy="10058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515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2 148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11480" y="15544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Échantillons totaux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06040" y="960120"/>
            <a:ext cx="21031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06040" y="960120"/>
            <a:ext cx="73152" cy="10058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10515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743200" y="15544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Caractéristiques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240280"/>
            <a:ext cx="21031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240280"/>
            <a:ext cx="73152" cy="10058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3317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11480" y="28346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Classes cibles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606040" y="2240280"/>
            <a:ext cx="21031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606040" y="2240280"/>
            <a:ext cx="73152" cy="10058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0" y="23317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2743200" y="28346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Valeurs manquantes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937760" y="914400"/>
            <a:ext cx="3886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74920" y="10058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 des Classes</a:t>
            </a:r>
            <a:endParaRPr lang="en-US" sz="1300" dirty="0"/>
          </a:p>
        </p:txBody>
      </p:sp>
      <p:graphicFrame>
        <p:nvGraphicFramePr>
          <p:cNvPr id="23" name="Chart 0"/>
          <p:cNvGraphicFramePr/>
          <p:nvPr/>
        </p:nvGraphicFramePr>
        <p:xfrm>
          <a:off x="4937760" y="1417320"/>
          <a:ext cx="388620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4" name="Text 21"/>
          <p:cNvSpPr/>
          <p:nvPr/>
        </p:nvSpPr>
        <p:spPr>
          <a:xfrm>
            <a:off x="4983480" y="36576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</a:rPr>
              <a:t>57,4 % Kirmizi  ·  42,6 % Siirt   —   Déséquilibre modéré (&lt; 15 pts)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274320" y="32918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</a:rPr>
              <a:t>Familles de caractéristiques :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274320" y="361188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332"/>
                </a:solidFill>
              </a:rPr>
              <a:t>Morphologie (12)  </a:t>
            </a:r>
            <a:r>
              <a:rPr lang="en-US" sz="1000" dirty="0">
                <a:solidFill>
                  <a:srgbClr val="6B7280"/>
                </a:solidFill>
              </a:rPr>
              <a:t>Area, Perimeter, Axes, Eccentricity, Solidity…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274320" y="395935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332"/>
                </a:solidFill>
              </a:rPr>
              <a:t>Forme (8)  </a:t>
            </a:r>
            <a:r>
              <a:rPr lang="en-US" sz="1000" dirty="0">
                <a:solidFill>
                  <a:srgbClr val="6B7280"/>
                </a:solidFill>
              </a:rPr>
              <a:t>Roundness, Compactness, ShapeFactors (1-4)…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274320" y="4306824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332"/>
                </a:solidFill>
              </a:rPr>
              <a:t>Couleur RVB (8)  </a:t>
            </a:r>
            <a:r>
              <a:rPr lang="en-US" sz="1000" dirty="0">
                <a:solidFill>
                  <a:srgbClr val="6B7280"/>
                </a:solidFill>
              </a:rPr>
              <a:t>Mean, StdDev, Skewness, Kurtosis (R, G, B)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de Prétraitement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5D5B2"/>
                </a:solidFill>
              </a:rPr>
              <a:t>03 /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20116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960120"/>
            <a:ext cx="640080" cy="64008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960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38328" y="169164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Chargement &amp; Audit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8328" y="2240280"/>
            <a:ext cx="1810512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C1C1C"/>
                </a:solidFill>
              </a:rPr>
              <a:t>Lecture XLS → DataFrame (2148 × 29)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C1C1C"/>
                </a:solidFill>
              </a:rPr>
              <a:t>Vérification : 0 valeur manquante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C1C1C"/>
                </a:solidFill>
              </a:rPr>
              <a:t>Identification : 28 features + 1 cible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240280" y="2606040"/>
            <a:ext cx="201168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23160" y="914400"/>
            <a:ext cx="20116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08960" y="960120"/>
            <a:ext cx="640080" cy="64008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08960" y="960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532888" y="169164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Encodage des Labels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32888" y="2240280"/>
            <a:ext cx="1810512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C1C1C"/>
                </a:solidFill>
              </a:rPr>
              <a:t>LabelEncoder scikit-learn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C1C1C"/>
                </a:solidFill>
              </a:rPr>
              <a:t>Kirmizi → 0  /  Siirt → 1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C1C1C"/>
                </a:solidFill>
              </a:rPr>
              <a:t>Ordre alphabétique — déterministe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434840" y="2606040"/>
            <a:ext cx="201168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17720" y="914400"/>
            <a:ext cx="20116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303520" y="960120"/>
            <a:ext cx="640080" cy="64008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0" y="960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727448" y="169164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Partitionnement Stratifié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27448" y="2240280"/>
            <a:ext cx="1810512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C1C1C"/>
                </a:solidFill>
              </a:rPr>
              <a:t>Train 64 %  →  1 374 échantillons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C1C1C"/>
                </a:solidFill>
              </a:rPr>
              <a:t>Validation 16 %  →  344 échantillons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C1C1C"/>
                </a:solidFill>
              </a:rPr>
              <a:t>Test 20 %  →  430 échantillons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29400" y="2606040"/>
            <a:ext cx="201168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12280" y="914400"/>
            <a:ext cx="20116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498080" y="960120"/>
            <a:ext cx="640080" cy="64008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0" y="960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922008" y="169164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Standardisation (Z-score)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922008" y="2240280"/>
            <a:ext cx="1810512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C1C1C"/>
                </a:solidFill>
              </a:rPr>
              <a:t>StandardScaler fit sur train uniquement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C1C1C"/>
                </a:solidFill>
              </a:rPr>
              <a:t>Transform appliqué à val &amp; test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C1C1C"/>
                </a:solidFill>
              </a:rPr>
              <a:t>Prévention du data leakage ✓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28600" y="4617720"/>
            <a:ext cx="8686800" cy="384048"/>
          </a:xfrm>
          <a:prstGeom prst="rect">
            <a:avLst/>
          </a:prstGeom>
          <a:solidFill>
            <a:srgbClr val="1B4332">
              <a:alpha val="15000"/>
            </a:srgbClr>
          </a:solidFill>
          <a:ln w="12700">
            <a:solidFill>
              <a:srgbClr val="52796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464515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B4332"/>
                </a:solidFill>
              </a:rPr>
              <a:t>Justification : La standardisation est impérative au vu des écarts d'échelle extrêmes entre variables (Area ~ 10⁵ vs Eccentricity ∈ [0,1]). Le fit exclusif sur le train prévient toute contamination des données de test.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du Modèle MLP de Base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5D5B2"/>
                </a:solidFill>
              </a:rPr>
              <a:t>04 /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3200400" cy="502920"/>
          </a:xfrm>
          <a:prstGeom prst="rect">
            <a:avLst/>
          </a:prstGeom>
          <a:solidFill>
            <a:srgbClr val="52796F"/>
          </a:solidFill>
          <a:ln w="12700">
            <a:solidFill>
              <a:srgbClr val="52796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9144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Entrée  [28]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19656" y="1417320"/>
            <a:ext cx="0" cy="301752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719072"/>
            <a:ext cx="2926080" cy="5029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71907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Dense + BN + Dropout  [128]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19656" y="2221992"/>
            <a:ext cx="0" cy="301752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2523744"/>
            <a:ext cx="2468880" cy="5029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523744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Dense + BN + Dropout  [64]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9656" y="3026664"/>
            <a:ext cx="0" cy="301752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3328416"/>
            <a:ext cx="2011680" cy="5029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32841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Dense + BN + Dropout  [32]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19656" y="3831336"/>
            <a:ext cx="0" cy="301752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43000" y="4133088"/>
            <a:ext cx="1371600" cy="50292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413308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Sortie Sigmoid  [1]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794760" y="914400"/>
            <a:ext cx="5120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794760" y="914400"/>
            <a:ext cx="64008" cy="65836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31920" y="960120"/>
            <a:ext cx="4846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</a:rPr>
              <a:t>Activation ReLU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931920" y="120700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Évite la saturation du gradient. Standard pour les couches cachées de MLP.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794760" y="1719072"/>
            <a:ext cx="5120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794760" y="1719072"/>
            <a:ext cx="64008" cy="65836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31920" y="1764792"/>
            <a:ext cx="4846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</a:rPr>
              <a:t>Batch Normalization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931920" y="20116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Stabilise la distribution des activations, accélère la convergence et réduit la sensibilité au LR.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794760" y="2523744"/>
            <a:ext cx="5120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794760" y="2523744"/>
            <a:ext cx="64008" cy="65836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31920" y="2569464"/>
            <a:ext cx="4846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</a:rPr>
              <a:t>Dropout (p = 0.3)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931920" y="281635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Régularisation stochastique. Réduit la co-adaptation des neurones et prévient le sur-apprentissage.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794760" y="3328416"/>
            <a:ext cx="5120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794760" y="3328416"/>
            <a:ext cx="64008" cy="65836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31920" y="3374136"/>
            <a:ext cx="4846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</a:rPr>
              <a:t>Sigmoid (sortie)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931920" y="3621024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Classification binaire : probabilité P(Siirt | x) ∈ [0, 1], seuil de décision par défaut à 0.5.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794760" y="4133088"/>
            <a:ext cx="5120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794760" y="4133088"/>
            <a:ext cx="64008" cy="65836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31920" y="4178808"/>
            <a:ext cx="4846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</a:rPr>
              <a:t>Early Stopping (p = 5)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931920" y="4425696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Arrêt si la val_accuracy ne progresse plus sur 5 époques. Prévient l'over-training.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Optimisation des Hyperparamètres — Optuna (TPE)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5D5B2"/>
                </a:solidFill>
              </a:rPr>
              <a:t>05 /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868680"/>
            <a:ext cx="41148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9601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Stratégie : Optimisation Bayésienne (TPE)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371600"/>
            <a:ext cx="38404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b="1" dirty="0">
                <a:solidFill>
                  <a:srgbClr val="1C1C1C"/>
                </a:solidFill>
              </a:rPr>
              <a:t>TPE Sampler (Tree-structured Parzen Estimator)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Modélise P(x|y&lt;y*) et P(x|y≥y*) pour guider l'exploration vers les régions prometteuses de l'espace de recherche.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C1C1C"/>
                </a:solidFill>
              </a:rPr>
              <a:t>Median Pruner : élagage des essais sous-performants après 5 essais initiaux (warmup = 10 époques)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b="1" dirty="0">
                <a:solidFill>
                  <a:srgbClr val="1C1C1C"/>
                </a:solidFill>
              </a:rPr>
              <a:t>50 essais  ·  Maximize val_accuracy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</a:rPr>
              <a:t>Avantage vs Random Search : exploration guidée, efficacité sur espaces de grande dimension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0" y="868680"/>
            <a:ext cx="43434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9160" y="9601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Espace de Recherche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1371600"/>
          <a:ext cx="4206240" cy="2304288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Hyperparamètre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Espace / Valeurs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n_layers (couches)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 – 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n_units (par couche)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32, 64, 96, 128, 160, 192, 256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dropout_rate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[0.1 , 0.5]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learning_rate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[1e-4 , 1e-2]  (log)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optimizer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Adam / SGD / RMSprop / AdamW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batch_size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8, 16, 32, 64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l2_reg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[1e-6 , 1e-1]  (log)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weight_decay (AdamW)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[1e-5 , 1e-1]  (log)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228600" y="4114800"/>
            <a:ext cx="8686800" cy="80467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1480" y="4160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843"/>
                </a:solidFill>
              </a:rPr>
              <a:t>★  Meilleure configuration Optuna (26 min, 50 essais)  →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11480" y="4462272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</a:rPr>
              <a:t>3 couches [64→96→128]  ·  Dropout 33.8%  ·  LR = 0.00142  ·  RMSprop  ·  L2 = 5.8e-5  ·  Batch = 32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Résultats du Meilleur Modèle Final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5D5B2"/>
                </a:solidFill>
              </a:rPr>
              <a:t>06 /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822960"/>
            <a:ext cx="1984248" cy="141732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914400"/>
            <a:ext cx="1984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D4A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93.7%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28600" y="1600200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Accuracy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28600" y="1874520"/>
            <a:ext cx="1984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5D5B2"/>
                </a:solidFill>
              </a:rPr>
              <a:t>sur test (430 éch.)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395728" y="822960"/>
            <a:ext cx="1984248" cy="141732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395728" y="914400"/>
            <a:ext cx="1984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D4A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94%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2395728" y="1600200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F1-Score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395728" y="1874520"/>
            <a:ext cx="1984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5D5B2"/>
                </a:solidFill>
              </a:rPr>
              <a:t>macro-average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62856" y="822960"/>
            <a:ext cx="1984248" cy="141732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62856" y="914400"/>
            <a:ext cx="1984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D4A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562856" y="1600200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Precision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62856" y="1874520"/>
            <a:ext cx="1984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5D5B2"/>
                </a:solidFill>
              </a:rPr>
              <a:t>macro-average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729984" y="822960"/>
            <a:ext cx="1984248" cy="141732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29984" y="914400"/>
            <a:ext cx="1984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D4A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93%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729984" y="1600200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Recall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729984" y="1874520"/>
            <a:ext cx="1984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5D5B2"/>
                </a:solidFill>
              </a:rPr>
              <a:t>macro-average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28600" y="24231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Rapport de Classification par Classe</a:t>
            </a:r>
            <a:endParaRPr lang="en-US" sz="12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2788920"/>
          <a:ext cx="5029200" cy="1207008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Classe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F1-Score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Support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Kirmizi Pistachio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0.94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0.96 ★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0.95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247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Siirt Pistachio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0.94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0.91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0.93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183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Macro Average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0.94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0.93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0.94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430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5440680" y="2331720"/>
            <a:ext cx="3474720" cy="2578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5577840" y="24231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des résultats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577840" y="2788920"/>
            <a:ext cx="3200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b="1" dirty="0">
                <a:solidFill>
                  <a:srgbClr val="1C1C1C"/>
                </a:solidFill>
              </a:rPr>
              <a:t>Kirmizi : rappel 96% (meilleur)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Effectif supérieur en train → décision plus robuste pour cette classe.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b="1" dirty="0">
                <a:solidFill>
                  <a:srgbClr val="1C1C1C"/>
                </a:solidFill>
              </a:rPr>
              <a:t>Siirt : rappel 91% — 9% FN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Confusion résiduelle sur échantillons morphologiquement proches des deux variétés.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b="1" dirty="0">
                <a:solidFill>
                  <a:srgbClr val="1C1C1C"/>
                </a:solidFill>
              </a:rPr>
              <a:t>Seuil optimal : 0.35 (≠ 0.50)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L'abaissement du seuil booste le rappel global à 95.6% au prix d'une précision à 90.2%.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228600" y="4160520"/>
            <a:ext cx="5029200" cy="749808"/>
          </a:xfrm>
          <a:prstGeom prst="rect">
            <a:avLst/>
          </a:prstGeom>
          <a:solidFill>
            <a:srgbClr val="F8F4E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65760" y="425196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B4332"/>
                </a:solidFill>
              </a:rPr>
              <a:t>Loss test : 0.2071  ·  Precision test : 0.9382  ·  Recall test : 0.9126  ·  Seuil décision optimal : 0.35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des Métriques — ROC, Lift &amp; Seuil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5D5B2"/>
                </a:solidFill>
              </a:rPr>
              <a:t>07 /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822960"/>
            <a:ext cx="42062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89611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Courbe ROC</a:t>
            </a:r>
            <a:endParaRPr lang="en-US" sz="12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228600" y="1234440"/>
          <a:ext cx="420624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1463040" y="1417320"/>
            <a:ext cx="914400" cy="502920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463040" y="14173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4332"/>
                </a:solidFill>
              </a:rPr>
              <a:t>AUC ≈ 0.98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663440" y="822960"/>
            <a:ext cx="42519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800600" y="89611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Courbe Lift — Capacité de Ciblage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234440"/>
          <a:ext cx="4251960" cy="1280160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% Population ciblée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Capture Rate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Lift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10 %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23.5 %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× 2.35  ★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20 %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47.0 %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× 2.35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30 %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69.4 %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× 2.31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50 %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97.3 %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× 1.95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4663440" y="2606040"/>
            <a:ext cx="425196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4800600" y="267919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du Seuil de Décision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800600" y="3017520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C1C1C"/>
                </a:solidFill>
              </a:rPr>
              <a:t>Seuil par défaut (0.5)  →  Acc = 93.7%  ·  F1 = 92.5%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b="1" dirty="0">
                <a:solidFill>
                  <a:srgbClr val="1C1C1C"/>
                </a:solidFill>
              </a:rPr>
              <a:t>Seuil optimal (0.35)  →  Recall = 95.6%  ·  F1 = 92.8%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</a:rPr>
              <a:t>Critères : Accuracy, F1 et Indice de Youden convergent vers 0.35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i="1" dirty="0">
                <a:solidFill>
                  <a:srgbClr val="52796F"/>
                </a:solidFill>
              </a:rPr>
              <a:t>Pertinence industrielle : favorise le rappel pour minimiser les faux négatifs de tri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228600" y="4160520"/>
            <a:ext cx="8686800" cy="777240"/>
          </a:xfrm>
          <a:prstGeom prst="rect">
            <a:avLst/>
          </a:prstGeom>
          <a:solidFill>
            <a:srgbClr val="F8F4E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65760" y="4206240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4332"/>
                </a:solidFill>
              </a:rPr>
              <a:t>Interprétation Lift : </a:t>
            </a:r>
            <a:r>
              <a:rPr lang="en-US" sz="950" dirty="0">
                <a:solidFill>
                  <a:srgbClr val="1C1C1C"/>
                </a:solidFill>
              </a:rPr>
              <a:t>En ciblant uniquement les 10% d'échantillons avec les probabilités les plus élevées, le modèle capture 23.5% de tous les cas positifs — soit 2.35× mieux qu'un tri aléatoire. À 50% de la population, 97.3% des Siirt sont identifiés. Valeur ajoutée industrielle considérable.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du Sur-apprentissage &amp; Généralisation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5D5B2"/>
                </a:solidFill>
              </a:rPr>
              <a:t>08 /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822960"/>
            <a:ext cx="46634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896112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de la Régularisation L2 sur le Surapprentissage</a:t>
            </a:r>
            <a:endParaRPr lang="en-US" sz="11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228600" y="1261872"/>
          <a:ext cx="4663440" cy="21762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5120640" y="822960"/>
            <a:ext cx="37947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257800" y="89611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Indicateurs Anti-surapprentissage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120640" y="1325880"/>
            <a:ext cx="3794760" cy="365760"/>
          </a:xfrm>
          <a:prstGeom prst="rect">
            <a:avLst/>
          </a:prstGeom>
          <a:solidFill>
            <a:srgbClr val="F5F0E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212080" y="134416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1C1C"/>
                </a:solidFill>
              </a:rPr>
              <a:t>Overfitting Gap (L2=1e-3)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132320" y="1344168"/>
            <a:ext cx="777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4332"/>
                </a:solidFill>
              </a:rPr>
              <a:t>−0.012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909560" y="1344168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2796F"/>
                </a:solidFill>
              </a:rPr>
              <a:t>✓ Négatif → val &gt; train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5120640" y="1746504"/>
            <a:ext cx="3794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212080" y="1764792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1C1C"/>
                </a:solidFill>
              </a:rPr>
              <a:t>Loss Landscape Sharpness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132320" y="1764792"/>
            <a:ext cx="777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4332"/>
                </a:solidFill>
              </a:rPr>
              <a:t>0.0006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909560" y="1764792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2796F"/>
                </a:solidFill>
              </a:rPr>
              <a:t>✓ Minimum très plat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5120640" y="2167128"/>
            <a:ext cx="3794760" cy="365760"/>
          </a:xfrm>
          <a:prstGeom prst="rect">
            <a:avLst/>
          </a:prstGeom>
          <a:solidFill>
            <a:srgbClr val="F5F0E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212080" y="2185416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1C1C"/>
                </a:solidFill>
              </a:rPr>
              <a:t>Loss Landscape Range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132320" y="2185416"/>
            <a:ext cx="777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4332"/>
                </a:solidFill>
              </a:rPr>
              <a:t>0.0033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909560" y="2185416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2796F"/>
                </a:solidFill>
              </a:rPr>
              <a:t>✓ Faible courbure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5120640" y="2587752"/>
            <a:ext cx="3794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212080" y="260604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1C1C"/>
                </a:solidFill>
              </a:rPr>
              <a:t>Train/Val Loss Gap (final)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7132320" y="2606040"/>
            <a:ext cx="777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4332"/>
                </a:solidFill>
              </a:rPr>
              <a:t>~0.07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7909560" y="2606040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2796F"/>
                </a:solidFill>
              </a:rPr>
              <a:t>✓ Modéré, acceptable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5120640" y="3008376"/>
            <a:ext cx="3794760" cy="365760"/>
          </a:xfrm>
          <a:prstGeom prst="rect">
            <a:avLst/>
          </a:prstGeom>
          <a:solidFill>
            <a:srgbClr val="F5F0E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212080" y="3026664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1C1C"/>
                </a:solidFill>
              </a:rPr>
              <a:t>Var(loss landscape)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7132320" y="3026664"/>
            <a:ext cx="777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4332"/>
                </a:solidFill>
              </a:rPr>
              <a:t>≈ 0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7909560" y="3026664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2796F"/>
                </a:solidFill>
              </a:rPr>
              <a:t>✓ Robustesse élevée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228600" y="3703320"/>
            <a:ext cx="8686800" cy="12344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11480" y="37490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843"/>
                </a:solidFill>
              </a:rPr>
              <a:t>Analyse du Loss Landscape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411480" y="4133088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Une sharpness de 0.0006 classe ce minimum comme </a:t>
            </a:r>
            <a:r>
              <a:rPr lang="en-US" sz="950" b="1" dirty="0">
                <a:solidFill>
                  <a:srgbClr val="D4A843"/>
                </a:solidFill>
              </a:rPr>
              <a:t>TRÈS PLAT</a:t>
            </a:r>
            <a:r>
              <a:rPr lang="en-US" sz="950" dirty="0">
                <a:solidFill>
                  <a:srgbClr val="95D5B2"/>
                </a:solidFill>
              </a:rPr>
              <a:t>. En théorie de l'optimisation (Hochreiter &amp; Schmidhuber, 1997 ; Keskar et al., 2017), les minima plats généralisent mieux car le modèle reste performant sous de légères perturbations des poids — caractéristique d'un apprentissage robuste. La variance quasi-nulle du paysage de loss confirme que la convergence est stable et non contingente à un minimum local sharp.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0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Interprétation Statistique des Performances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5D5B2"/>
                </a:solidFill>
              </a:rPr>
              <a:t>09 /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822960"/>
            <a:ext cx="42062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89611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Optuna vs. Random Search — Val. Accuracy</a:t>
            </a:r>
            <a:endParaRPr lang="en-US" sz="11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228600" y="1261872"/>
          <a:ext cx="4206240" cy="21762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4663440" y="822960"/>
            <a:ext cx="42519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800600" y="89611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Interprétation Statistique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63440" y="1261872"/>
            <a:ext cx="4251960" cy="502920"/>
          </a:xfrm>
          <a:prstGeom prst="rect">
            <a:avLst/>
          </a:prstGeom>
          <a:solidFill>
            <a:srgbClr val="F5F0E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63440" y="1261872"/>
            <a:ext cx="64008" cy="50292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73168" y="1289304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4332"/>
                </a:solidFill>
              </a:rPr>
              <a:t>Déséquilibre de classes (14.7 pts)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773168" y="1490472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Justifie l'usage du F1-macro et de la matrice de confusion plutôt que la seule accuracy. Le modèle maintient des performances équilibrées malgré ce déséquilibre modéré.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663440" y="1810512"/>
            <a:ext cx="42519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663440" y="1810512"/>
            <a:ext cx="64008" cy="50292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73168" y="1837944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4332"/>
                </a:solidFill>
              </a:rPr>
              <a:t>Optuna : meilleure médiane (95.4% &gt; 94.8%)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773168" y="2039112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L'avantage de l'optimisation bayésienne se confirme sur la médiane plutôt que sur le pic : exploration plus efficiente et reproductible de l'espace des hyperparamètres.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4663440" y="2359152"/>
            <a:ext cx="4251960" cy="502920"/>
          </a:xfrm>
          <a:prstGeom prst="rect">
            <a:avLst/>
          </a:prstGeom>
          <a:solidFill>
            <a:srgbClr val="F5F0E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663440" y="2359152"/>
            <a:ext cx="64008" cy="50292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73168" y="2386584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4332"/>
                </a:solidFill>
              </a:rPr>
              <a:t>Multicolinéarité des features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773168" y="2587752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La forte corrélation inter-variables (Area/Perimeter/Axes &gt; 0.90) génère une redondance gérée implicitement par les couches de régularisation L2 et dropout du MLP.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4663440" y="2907792"/>
            <a:ext cx="42519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663440" y="2907792"/>
            <a:ext cx="64008" cy="50292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773168" y="2935224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4332"/>
                </a:solidFill>
              </a:rPr>
              <a:t>Loss = 0.207 sur test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4773168" y="3136392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Légère dégradation par rapport à la validation (0.187). Le gap de ~11% reste dans les limites d'une généralisation acceptable pour un dataset de taille modeste.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228600" y="3703320"/>
            <a:ext cx="8686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365760" y="3749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 les plus discriminantes — Analyse exploratoire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320040" y="4133088"/>
            <a:ext cx="1298448" cy="50292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20040" y="4133088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Eccentricity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1737360" y="4133088"/>
            <a:ext cx="1298448" cy="50292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737360" y="4133088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Solidity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3154680" y="4133088"/>
            <a:ext cx="1298448" cy="50292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154680" y="4133088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Roundness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4572000" y="4133088"/>
            <a:ext cx="1298448" cy="50292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572000" y="4133088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Compactness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5989320" y="4133088"/>
            <a:ext cx="1298448" cy="50292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989320" y="4133088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Major_Axis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7406640" y="4133088"/>
            <a:ext cx="1298448" cy="50292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406640" y="4133088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Shapefactor_1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320040" y="46634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</a:rPr>
              <a:t>← Variables de forme — distributions KDE les plus séparées entre classes (analyse visuelle)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2D6A4F">
              <a:alpha val="30000"/>
            </a:srgbClr>
          </a:solidFill>
          <a:ln w="12700">
            <a:solidFill>
              <a:srgbClr val="2D6A4F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52796F">
              <a:alpha val="25000"/>
            </a:srgbClr>
          </a:solidFill>
          <a:ln w="12700">
            <a:solidFill>
              <a:srgbClr val="52796F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Recommandations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822960"/>
            <a:ext cx="2743200" cy="36576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8755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Bilan du Projet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389888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✓  Accuracy test : 93.7% — F1 macro : 94%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82880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✓  AUC-ROC ≈ 0.98 — Discrimination excellente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26771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✓  Lift ×2.35 à 10% — Valeur opérationnelle prouvée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706624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5D5B2"/>
                </a:solidFill>
              </a:rPr>
              <a:t>✓  Loss landscape plat — Généralisation robuste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3145536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5D5B2"/>
                </a:solidFill>
              </a:rPr>
              <a:t>✓  Seuil optimal 0.35 — Adaptable aux contraintes métier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3584448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5D5B2"/>
                </a:solidFill>
              </a:rPr>
              <a:t>✓  Optuna : médiane supérieure au Random Search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98755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Recommandations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46320" y="1389888"/>
            <a:ext cx="301752" cy="301752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38988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4332"/>
                </a:solidFill>
              </a:rPr>
              <a:t>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212080" y="14173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5D5B2"/>
                </a:solidFill>
              </a:rPr>
              <a:t>Calibration du seuil (0.35) selon les coûts d'erreur industriels (FN &gt; FP)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46320" y="1828800"/>
            <a:ext cx="301752" cy="301752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1828800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4332"/>
                </a:solidFill>
              </a:rPr>
              <a:t>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212080" y="185623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5D5B2"/>
                </a:solidFill>
              </a:rPr>
              <a:t>Augmenter l'effectif Siirt ou appliquer un class_weight pour réduire le gap de rappel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6320" y="2267712"/>
            <a:ext cx="301752" cy="301752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267712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4332"/>
                </a:solidFill>
              </a:rPr>
              <a:t>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212080" y="229514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5D5B2"/>
                </a:solidFill>
              </a:rPr>
              <a:t>Évaluer l'Analyse en Composantes Principales pour éliminer la redondance inter-features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2706624"/>
            <a:ext cx="301752" cy="301752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706624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4332"/>
                </a:solidFill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212080" y="273405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5D5B2"/>
                </a:solidFill>
              </a:rPr>
              <a:t>Tester des architectures Residual ou TabNet pour capturer des interactions non-linéaires profondes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46320" y="3145536"/>
            <a:ext cx="301752" cy="301752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3145536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4332"/>
                </a:solidFill>
              </a:rPr>
              <a:t>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212080" y="31729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5D5B2"/>
                </a:solidFill>
              </a:rPr>
              <a:t>Déploiement : pipeline Keras + FastAPI avec monitoring de drift via PSI sur les 28 features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3584448"/>
            <a:ext cx="301752" cy="301752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58444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4332"/>
                </a:solidFill>
              </a:rPr>
              <a:t>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212080" y="36118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5D5B2"/>
                </a:solidFill>
              </a:rPr>
              <a:t>Valider sur un jeu de données externe pour confirmer la généralisation hors-distribution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84632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5D5B2"/>
                </a:solidFill>
              </a:rPr>
              <a:t>DSM-ISSEA  ·  Classification Automatique de Pistaches par Deep Learning  ·  Février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1482</Words>
  <Application>Microsoft Office PowerPoint</Application>
  <PresentationFormat>Affichage à l'écran (16:9)</PresentationFormat>
  <Paragraphs>246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3" baseType="lpstr">
      <vt:lpstr>Arial</vt:lpstr>
      <vt:lpstr>Cambria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Classification Automatique de Pistaches par Deep Learning</dc:title>
  <dc:subject>PptxGenJS Presentation</dc:subject>
  <dc:creator>DSM-ISSEA 2026</dc:creator>
  <cp:lastModifiedBy>Irch Defluviaire NGOULOU NGOUBILI</cp:lastModifiedBy>
  <cp:revision>3</cp:revision>
  <dcterms:created xsi:type="dcterms:W3CDTF">2026-02-24T20:17:04Z</dcterms:created>
  <dcterms:modified xsi:type="dcterms:W3CDTF">2026-02-24T20:46:15Z</dcterms:modified>
</cp:coreProperties>
</file>